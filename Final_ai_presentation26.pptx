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76" r:id="rId2"/>
    <p:sldId id="273" r:id="rId3"/>
    <p:sldId id="258" r:id="rId4"/>
    <p:sldId id="261" r:id="rId5"/>
    <p:sldId id="274" r:id="rId6"/>
    <p:sldId id="275" r:id="rId7"/>
    <p:sldId id="259" r:id="rId8"/>
    <p:sldId id="260" r:id="rId9"/>
    <p:sldId id="277" r:id="rId10"/>
    <p:sldId id="278" r:id="rId11"/>
    <p:sldId id="267" r:id="rId12"/>
    <p:sldId id="268" r:id="rId13"/>
    <p:sldId id="269" r:id="rId14"/>
    <p:sldId id="270" r:id="rId15"/>
    <p:sldId id="281" r:id="rId16"/>
    <p:sldId id="271" r:id="rId17"/>
    <p:sldId id="272" r:id="rId18"/>
    <p:sldId id="279"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E41C71-A36E-4FAA-B6C7-7BB05B672C56}"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A85FEA-146F-487C-BFCD-E4746D3FE87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866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41C71-A36E-4FAA-B6C7-7BB05B672C56}"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2096481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41C71-A36E-4FAA-B6C7-7BB05B672C56}"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A85FEA-146F-487C-BFCD-E4746D3FE87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945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E41C71-A36E-4FAA-B6C7-7BB05B672C56}"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2956696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E41C71-A36E-4FAA-B6C7-7BB05B672C56}" type="datetimeFigureOut">
              <a:rPr lang="en-IN" smtClean="0"/>
              <a:t>01-05-2026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3752006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E41C71-A36E-4FAA-B6C7-7BB05B672C56}" type="datetimeFigureOut">
              <a:rPr lang="en-IN" smtClean="0"/>
              <a:t>01-05-2026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86335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3E41C71-A36E-4FAA-B6C7-7BB05B672C56}" type="datetimeFigureOut">
              <a:rPr lang="en-IN" smtClean="0"/>
              <a:t>01-05-2026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3322527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3E41C71-A36E-4FAA-B6C7-7BB05B672C56}" type="datetimeFigureOut">
              <a:rPr lang="en-IN" smtClean="0"/>
              <a:t>01-05-2026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CA85FEA-146F-487C-BFCD-E4746D3FE874}" type="slidenum">
              <a:rPr lang="en-IN" smtClean="0"/>
              <a:t>‹#›</a:t>
            </a:fld>
            <a:endParaRPr lang="en-IN"/>
          </a:p>
        </p:txBody>
      </p:sp>
    </p:spTree>
    <p:extLst>
      <p:ext uri="{BB962C8B-B14F-4D97-AF65-F5344CB8AC3E}">
        <p14:creationId xmlns:p14="http://schemas.microsoft.com/office/powerpoint/2010/main" val="2128691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E41C71-A36E-4FAA-B6C7-7BB05B672C56}" type="datetimeFigureOut">
              <a:rPr lang="en-IN" smtClean="0"/>
              <a:t>01-05-2026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397168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41C71-A36E-4FAA-B6C7-7BB05B672C56}"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1194895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41C71-A36E-4FAA-B6C7-7BB05B672C56}" type="datetimeFigureOut">
              <a:rPr lang="en-IN" smtClean="0"/>
              <a:t>01-05-2026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A85FEA-146F-487C-BFCD-E4746D3FE874}" type="slidenum">
              <a:rPr lang="en-IN" smtClean="0"/>
              <a:t>‹#›</a:t>
            </a:fld>
            <a:endParaRPr lang="en-IN"/>
          </a:p>
        </p:txBody>
      </p:sp>
    </p:spTree>
    <p:extLst>
      <p:ext uri="{BB962C8B-B14F-4D97-AF65-F5344CB8AC3E}">
        <p14:creationId xmlns:p14="http://schemas.microsoft.com/office/powerpoint/2010/main" val="4267304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3E41C71-A36E-4FAA-B6C7-7BB05B672C56}" type="datetimeFigureOut">
              <a:rPr lang="en-IN" smtClean="0"/>
              <a:t>01-05-2026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CA85FEA-146F-487C-BFCD-E4746D3FE87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529421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DE19C1-54DF-FE55-551C-2ECBA9683479}"/>
              </a:ext>
            </a:extLst>
          </p:cNvPr>
          <p:cNvSpPr txBox="1"/>
          <p:nvPr/>
        </p:nvSpPr>
        <p:spPr>
          <a:xfrm>
            <a:off x="2580894" y="484963"/>
            <a:ext cx="6094476" cy="1492716"/>
          </a:xfrm>
          <a:prstGeom prst="rect">
            <a:avLst/>
          </a:prstGeom>
          <a:noFill/>
        </p:spPr>
        <p:txBody>
          <a:bodyPr wrap="square">
            <a:spAutoFit/>
          </a:bodyPr>
          <a:lstStyle/>
          <a:p>
            <a:r>
              <a:rPr lang="en-GB" b="1" dirty="0"/>
              <a:t>                              </a:t>
            </a:r>
            <a:r>
              <a:rPr lang="en-GB" sz="2000" b="1" dirty="0"/>
              <a:t>AI Legal Terms Explainer </a:t>
            </a:r>
            <a:r>
              <a:rPr lang="en-IN" sz="2000" b="1" dirty="0"/>
              <a:t>Chatbot</a:t>
            </a:r>
            <a:endParaRPr lang="en-GB" sz="2000" b="1" dirty="0"/>
          </a:p>
          <a:p>
            <a:r>
              <a:rPr lang="en-GB" sz="2000" b="1" dirty="0"/>
              <a:t>              Simplifies Legal Jargon into Layman’s Terms</a:t>
            </a:r>
          </a:p>
          <a:p>
            <a:pPr algn="l">
              <a:spcAft>
                <a:spcPts val="600"/>
              </a:spcAft>
              <a:buNone/>
            </a:pPr>
            <a:r>
              <a:rPr lang="en-GB" b="1" i="0" dirty="0">
                <a:solidFill>
                  <a:srgbClr val="FFFFFF"/>
                </a:solidFill>
                <a:effectLst/>
                <a:latin typeface="-apple-system-body"/>
              </a:rPr>
              <a:t>AI Legal Terms Explainer</a:t>
            </a:r>
          </a:p>
          <a:p>
            <a:pPr algn="l">
              <a:spcBef>
                <a:spcPts val="1200"/>
              </a:spcBef>
              <a:spcAft>
                <a:spcPts val="300"/>
              </a:spcAft>
              <a:buNone/>
            </a:pPr>
            <a:r>
              <a:rPr lang="en-GB" b="1" i="0" dirty="0">
                <a:solidFill>
                  <a:srgbClr val="FFFFFF"/>
                </a:solidFill>
                <a:effectLst/>
                <a:latin typeface="-apple-system-body"/>
              </a:rPr>
              <a:t>Simplifies Legal Jargon into Layman’s Terms</a:t>
            </a:r>
          </a:p>
        </p:txBody>
      </p:sp>
      <p:pic>
        <p:nvPicPr>
          <p:cNvPr id="1026" name="Picture 2" descr="Govt of India's NIRF Rankings-2022 ranked LPU overall 47th ...">
            <a:extLst>
              <a:ext uri="{FF2B5EF4-FFF2-40B4-BE49-F238E27FC236}">
                <a16:creationId xmlns:a16="http://schemas.microsoft.com/office/drawing/2014/main" id="{921375B9-1886-77EE-D7B0-BBE804B91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968" y="1414201"/>
            <a:ext cx="5212080" cy="304807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3DC3A06-6AC8-86B4-64E0-89A864F87F99}"/>
              </a:ext>
            </a:extLst>
          </p:cNvPr>
          <p:cNvSpPr txBox="1"/>
          <p:nvPr/>
        </p:nvSpPr>
        <p:spPr>
          <a:xfrm>
            <a:off x="258318" y="4841084"/>
            <a:ext cx="4862322" cy="1908215"/>
          </a:xfrm>
          <a:prstGeom prst="rect">
            <a:avLst/>
          </a:prstGeom>
          <a:noFill/>
        </p:spPr>
        <p:txBody>
          <a:bodyPr wrap="square">
            <a:spAutoFit/>
          </a:bodyPr>
          <a:lstStyle/>
          <a:p>
            <a:r>
              <a:rPr lang="en-IN" sz="2000" b="1" dirty="0"/>
              <a:t>Presented By:  Isha kumari (12504063)</a:t>
            </a:r>
          </a:p>
          <a:p>
            <a:r>
              <a:rPr lang="en-IN" sz="2000" b="1" dirty="0"/>
              <a:t>                            Abhinav Raj (12419607)</a:t>
            </a:r>
          </a:p>
          <a:p>
            <a:r>
              <a:rPr lang="en-IN" sz="2000" b="1" dirty="0"/>
              <a:t>Course code:    INT428</a:t>
            </a:r>
          </a:p>
          <a:p>
            <a:r>
              <a:rPr lang="en-IN" sz="2000" b="1" dirty="0"/>
              <a:t>                           (AI ESSENTIALS)</a:t>
            </a:r>
          </a:p>
          <a:p>
            <a:endParaRPr lang="en-IN" sz="2000" b="1" dirty="0"/>
          </a:p>
          <a:p>
            <a:endParaRPr lang="en-IN" b="1" dirty="0"/>
          </a:p>
        </p:txBody>
      </p:sp>
      <p:sp>
        <p:nvSpPr>
          <p:cNvPr id="9" name="TextBox 8">
            <a:extLst>
              <a:ext uri="{FF2B5EF4-FFF2-40B4-BE49-F238E27FC236}">
                <a16:creationId xmlns:a16="http://schemas.microsoft.com/office/drawing/2014/main" id="{57D7D1D0-1310-270E-C290-33158828BDA4}"/>
              </a:ext>
            </a:extLst>
          </p:cNvPr>
          <p:cNvSpPr txBox="1"/>
          <p:nvPr/>
        </p:nvSpPr>
        <p:spPr>
          <a:xfrm>
            <a:off x="6595110" y="4841084"/>
            <a:ext cx="6094476" cy="707886"/>
          </a:xfrm>
          <a:prstGeom prst="rect">
            <a:avLst/>
          </a:prstGeom>
          <a:noFill/>
        </p:spPr>
        <p:txBody>
          <a:bodyPr wrap="square">
            <a:spAutoFit/>
          </a:bodyPr>
          <a:lstStyle/>
          <a:p>
            <a:r>
              <a:rPr lang="en-IN" b="1" dirty="0"/>
              <a:t>              </a:t>
            </a:r>
            <a:r>
              <a:rPr lang="en-IN" sz="2000" b="1" dirty="0"/>
              <a:t>Guided By: Mr. Anuj Attri Sir</a:t>
            </a:r>
          </a:p>
          <a:p>
            <a:r>
              <a:rPr lang="en-IN" sz="2000" b="1" dirty="0"/>
              <a:t>                                  (Assistant </a:t>
            </a:r>
            <a:r>
              <a:rPr lang="en-GB" sz="2000" b="1" dirty="0"/>
              <a:t>professor)</a:t>
            </a:r>
            <a:endParaRPr lang="en-IN" sz="2000" b="1" dirty="0"/>
          </a:p>
        </p:txBody>
      </p:sp>
    </p:spTree>
    <p:extLst>
      <p:ext uri="{BB962C8B-B14F-4D97-AF65-F5344CB8AC3E}">
        <p14:creationId xmlns:p14="http://schemas.microsoft.com/office/powerpoint/2010/main" val="105427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36E0-7410-271B-FBAA-82D557C14A51}"/>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8D348D9E-836C-40CE-3F46-DF6A88083BB9}"/>
              </a:ext>
            </a:extLst>
          </p:cNvPr>
          <p:cNvSpPr>
            <a:spLocks noGrp="1"/>
          </p:cNvSpPr>
          <p:nvPr>
            <p:ph idx="1"/>
          </p:nvPr>
        </p:nvSpPr>
        <p:spPr/>
        <p:txBody>
          <a:bodyPr/>
          <a:lstStyle/>
          <a:p>
            <a:r>
              <a:rPr lang="en-GB" dirty="0"/>
              <a:t>Legal documents often contain complex terms that are difficult for common people to understand. This creates confusion for students, beginners, and non-legal users.</a:t>
            </a:r>
          </a:p>
          <a:p>
            <a:r>
              <a:rPr lang="en-GB" dirty="0"/>
              <a:t>Our project, </a:t>
            </a:r>
            <a:r>
              <a:rPr lang="en-GB" b="1" dirty="0"/>
              <a:t>AI Legal Terms Explainer</a:t>
            </a:r>
            <a:r>
              <a:rPr lang="en-GB" dirty="0"/>
              <a:t>, uses Artificial Intelligence to simplify legal jargon into easy and understandable language. It provides customized explanations based on the user’s selected level and format, and also supports PDF upload for quick legal text analysis.</a:t>
            </a:r>
          </a:p>
          <a:p>
            <a:endParaRPr lang="en-IN" dirty="0"/>
          </a:p>
        </p:txBody>
      </p:sp>
    </p:spTree>
    <p:extLst>
      <p:ext uri="{BB962C8B-B14F-4D97-AF65-F5344CB8AC3E}">
        <p14:creationId xmlns:p14="http://schemas.microsoft.com/office/powerpoint/2010/main" val="1697458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3F7DF-6BB2-BDF5-10A7-B91B10CD7FC3}"/>
              </a:ext>
            </a:extLst>
          </p:cNvPr>
          <p:cNvSpPr>
            <a:spLocks noGrp="1"/>
          </p:cNvSpPr>
          <p:nvPr>
            <p:ph type="title"/>
          </p:nvPr>
        </p:nvSpPr>
        <p:spPr>
          <a:xfrm>
            <a:off x="1005840" y="466344"/>
            <a:ext cx="10149840" cy="1682496"/>
          </a:xfrm>
        </p:spPr>
        <p:txBody>
          <a:bodyPr>
            <a:normAutofit fontScale="90000"/>
          </a:bodyPr>
          <a:lstStyle/>
          <a:p>
            <a:br>
              <a:rPr lang="en-IN" b="1" dirty="0"/>
            </a:br>
            <a:br>
              <a:rPr lang="en-IN" b="1" dirty="0"/>
            </a:br>
            <a:br>
              <a:rPr lang="en-IN" b="1" dirty="0"/>
            </a:br>
            <a:r>
              <a:rPr lang="en-IN" b="1" dirty="0"/>
              <a:t>Project Objective</a:t>
            </a:r>
            <a:br>
              <a:rPr lang="en-IN" b="1" dirty="0"/>
            </a:br>
            <a:endParaRPr lang="en-IN" dirty="0"/>
          </a:p>
        </p:txBody>
      </p:sp>
      <p:sp>
        <p:nvSpPr>
          <p:cNvPr id="3" name="Content Placeholder 2">
            <a:extLst>
              <a:ext uri="{FF2B5EF4-FFF2-40B4-BE49-F238E27FC236}">
                <a16:creationId xmlns:a16="http://schemas.microsoft.com/office/drawing/2014/main" id="{D7854DB7-F7DF-4686-C33F-67750F44947C}"/>
              </a:ext>
            </a:extLst>
          </p:cNvPr>
          <p:cNvSpPr>
            <a:spLocks noGrp="1"/>
          </p:cNvSpPr>
          <p:nvPr>
            <p:ph idx="1"/>
          </p:nvPr>
        </p:nvSpPr>
        <p:spPr/>
        <p:txBody>
          <a:bodyPr/>
          <a:lstStyle/>
          <a:p>
            <a:pPr marL="0" indent="0">
              <a:buNone/>
            </a:pPr>
            <a:r>
              <a:rPr lang="en-GB" b="1" dirty="0"/>
              <a:t>To develop an AI-powered system that:</a:t>
            </a:r>
          </a:p>
          <a:p>
            <a:pPr>
              <a:buFont typeface="Wingdings" panose="05000000000000000000" pitchFamily="2" charset="2"/>
              <a:buChar char="v"/>
            </a:pPr>
            <a:r>
              <a:rPr lang="en-GB" dirty="0"/>
              <a:t>explains legal terms in simple language</a:t>
            </a:r>
          </a:p>
          <a:p>
            <a:pPr>
              <a:buFont typeface="Wingdings" panose="05000000000000000000" pitchFamily="2" charset="2"/>
              <a:buChar char="v"/>
            </a:pPr>
            <a:r>
              <a:rPr lang="en-GB" dirty="0"/>
              <a:t>supports multiple understanding levels</a:t>
            </a:r>
          </a:p>
          <a:p>
            <a:pPr>
              <a:buFont typeface="Wingdings" panose="05000000000000000000" pitchFamily="2" charset="2"/>
              <a:buChar char="v"/>
            </a:pPr>
            <a:r>
              <a:rPr lang="en-GB" dirty="0"/>
              <a:t>provides examples for better clarity</a:t>
            </a:r>
          </a:p>
          <a:p>
            <a:pPr>
              <a:buFont typeface="Wingdings" panose="05000000000000000000" pitchFamily="2" charset="2"/>
              <a:buChar char="v"/>
            </a:pPr>
            <a:r>
              <a:rPr lang="en-GB" dirty="0"/>
              <a:t>accepts both text input and PDF files</a:t>
            </a:r>
          </a:p>
          <a:p>
            <a:pPr>
              <a:buFont typeface="Wingdings" panose="05000000000000000000" pitchFamily="2" charset="2"/>
              <a:buChar char="v"/>
            </a:pPr>
            <a:r>
              <a:rPr lang="en-GB" dirty="0"/>
              <a:t>improves legal awareness for everyone</a:t>
            </a:r>
          </a:p>
          <a:p>
            <a:endParaRPr lang="en-IN" dirty="0"/>
          </a:p>
        </p:txBody>
      </p:sp>
    </p:spTree>
    <p:extLst>
      <p:ext uri="{BB962C8B-B14F-4D97-AF65-F5344CB8AC3E}">
        <p14:creationId xmlns:p14="http://schemas.microsoft.com/office/powerpoint/2010/main" val="2425827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AA4F-E613-EEF7-7465-266C23B658FF}"/>
              </a:ext>
            </a:extLst>
          </p:cNvPr>
          <p:cNvSpPr>
            <a:spLocks noGrp="1"/>
          </p:cNvSpPr>
          <p:nvPr>
            <p:ph type="title"/>
          </p:nvPr>
        </p:nvSpPr>
        <p:spPr>
          <a:xfrm>
            <a:off x="1088136" y="374903"/>
            <a:ext cx="9808464" cy="2350009"/>
          </a:xfrm>
        </p:spPr>
        <p:txBody>
          <a:bodyPr>
            <a:normAutofit fontScale="90000"/>
          </a:bodyPr>
          <a:lstStyle/>
          <a:p>
            <a:br>
              <a:rPr lang="en-IN" b="1" dirty="0"/>
            </a:br>
            <a:r>
              <a:rPr lang="en-IN" b="1" dirty="0"/>
              <a:t>Methodology</a:t>
            </a:r>
            <a:br>
              <a:rPr lang="en-IN" b="1" dirty="0"/>
            </a:br>
            <a:br>
              <a:rPr lang="en-IN" b="1" dirty="0"/>
            </a:br>
            <a:endParaRPr lang="en-IN" dirty="0"/>
          </a:p>
        </p:txBody>
      </p:sp>
      <p:sp>
        <p:nvSpPr>
          <p:cNvPr id="3" name="Content Placeholder 2">
            <a:extLst>
              <a:ext uri="{FF2B5EF4-FFF2-40B4-BE49-F238E27FC236}">
                <a16:creationId xmlns:a16="http://schemas.microsoft.com/office/drawing/2014/main" id="{6F10ACAB-8762-F1E8-71B6-9853E558FAB2}"/>
              </a:ext>
            </a:extLst>
          </p:cNvPr>
          <p:cNvSpPr>
            <a:spLocks noGrp="1"/>
          </p:cNvSpPr>
          <p:nvPr>
            <p:ph idx="1"/>
          </p:nvPr>
        </p:nvSpPr>
        <p:spPr>
          <a:xfrm>
            <a:off x="1371600" y="1920240"/>
            <a:ext cx="9808464" cy="4137851"/>
          </a:xfrm>
        </p:spPr>
        <p:txBody>
          <a:bodyPr>
            <a:normAutofit fontScale="25000" lnSpcReduction="20000"/>
          </a:bodyPr>
          <a:lstStyle/>
          <a:p>
            <a:pPr marL="0" indent="0">
              <a:buNone/>
            </a:pPr>
            <a:r>
              <a:rPr lang="en-GB" sz="9600" b="1" dirty="0"/>
              <a:t>Step 1: User Input</a:t>
            </a:r>
          </a:p>
          <a:p>
            <a:r>
              <a:rPr lang="en-GB" sz="8000" dirty="0"/>
              <a:t>User either:</a:t>
            </a:r>
          </a:p>
          <a:p>
            <a:pPr>
              <a:buFont typeface="Wingdings" panose="05000000000000000000" pitchFamily="2" charset="2"/>
              <a:buChar char="v"/>
            </a:pPr>
            <a:r>
              <a:rPr lang="en-GB" sz="8000" dirty="0"/>
              <a:t>types legal text manually</a:t>
            </a:r>
          </a:p>
          <a:p>
            <a:pPr>
              <a:buFont typeface="Wingdings" panose="05000000000000000000" pitchFamily="2" charset="2"/>
              <a:buChar char="v"/>
            </a:pPr>
            <a:r>
              <a:rPr lang="en-GB" sz="8000" dirty="0"/>
              <a:t>uploads a PDF document</a:t>
            </a:r>
            <a:br>
              <a:rPr lang="en-GB" sz="9600" dirty="0"/>
            </a:br>
            <a:endParaRPr lang="en-GB" sz="9600" dirty="0"/>
          </a:p>
          <a:p>
            <a:pPr marL="0" indent="0">
              <a:buNone/>
            </a:pPr>
            <a:r>
              <a:rPr lang="en-GB" sz="9600" b="1" dirty="0"/>
              <a:t>Step 2: PDF Text Extraction</a:t>
            </a:r>
          </a:p>
          <a:p>
            <a:r>
              <a:rPr lang="en-GB" sz="8000" dirty="0"/>
              <a:t>If PDF is uploaded:</a:t>
            </a:r>
          </a:p>
          <a:p>
            <a:pPr>
              <a:buFont typeface="Wingdings" panose="05000000000000000000" pitchFamily="2" charset="2"/>
              <a:buChar char="v"/>
            </a:pPr>
            <a:r>
              <a:rPr lang="en-GB" sz="8000" dirty="0"/>
              <a:t>PyPDF2 reads the file</a:t>
            </a:r>
          </a:p>
          <a:p>
            <a:pPr>
              <a:buFont typeface="Wingdings" panose="05000000000000000000" pitchFamily="2" charset="2"/>
              <a:buChar char="v"/>
            </a:pPr>
            <a:r>
              <a:rPr lang="en-GB" sz="8000" dirty="0"/>
              <a:t>extracts text from first few pages</a:t>
            </a:r>
          </a:p>
          <a:p>
            <a:pPr>
              <a:buFont typeface="Wingdings" panose="05000000000000000000" pitchFamily="2" charset="2"/>
              <a:buChar char="v"/>
            </a:pPr>
            <a:r>
              <a:rPr lang="en-GB" sz="8000" dirty="0"/>
              <a:t>inserts the text into input area</a:t>
            </a:r>
          </a:p>
          <a:p>
            <a:pPr marL="0" indent="0">
              <a:buNone/>
            </a:pPr>
            <a:br>
              <a:rPr lang="en-GB" sz="9600" dirty="0"/>
            </a:br>
            <a:endParaRPr lang="en-GB" sz="9600" dirty="0"/>
          </a:p>
          <a:p>
            <a:pPr marL="0" indent="0">
              <a:buNone/>
            </a:pPr>
            <a:br>
              <a:rPr lang="en-GB" dirty="0"/>
            </a:br>
            <a:endParaRPr lang="en-IN" dirty="0"/>
          </a:p>
        </p:txBody>
      </p:sp>
    </p:spTree>
    <p:extLst>
      <p:ext uri="{BB962C8B-B14F-4D97-AF65-F5344CB8AC3E}">
        <p14:creationId xmlns:p14="http://schemas.microsoft.com/office/powerpoint/2010/main" val="325467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F36EEA-6DA3-79EB-843C-7814F4E4475B}"/>
              </a:ext>
            </a:extLst>
          </p:cNvPr>
          <p:cNvSpPr txBox="1"/>
          <p:nvPr/>
        </p:nvSpPr>
        <p:spPr>
          <a:xfrm>
            <a:off x="1143000" y="676657"/>
            <a:ext cx="8284464" cy="4616648"/>
          </a:xfrm>
          <a:prstGeom prst="rect">
            <a:avLst/>
          </a:prstGeom>
          <a:noFill/>
        </p:spPr>
        <p:txBody>
          <a:bodyPr wrap="square">
            <a:spAutoFit/>
          </a:bodyPr>
          <a:lstStyle/>
          <a:p>
            <a:pPr marL="0" indent="0">
              <a:buNone/>
            </a:pPr>
            <a:r>
              <a:rPr lang="en-GB" sz="2000" b="1" dirty="0"/>
              <a:t>Step 3: User Preference Selection</a:t>
            </a:r>
          </a:p>
          <a:p>
            <a:pPr marL="0" indent="0">
              <a:buNone/>
            </a:pPr>
            <a:r>
              <a:rPr lang="en-GB" dirty="0"/>
              <a:t>User selects:</a:t>
            </a:r>
          </a:p>
          <a:p>
            <a:pPr marL="0" indent="0">
              <a:buNone/>
            </a:pPr>
            <a:endParaRPr lang="en-GB" dirty="0"/>
          </a:p>
          <a:p>
            <a:pPr marL="285750" indent="-285750">
              <a:buFont typeface="Wingdings" panose="05000000000000000000" pitchFamily="2" charset="2"/>
              <a:buChar char="v"/>
            </a:pPr>
            <a:r>
              <a:rPr lang="en-GB" dirty="0"/>
              <a:t>explanation level</a:t>
            </a:r>
            <a:br>
              <a:rPr lang="en-GB" dirty="0"/>
            </a:br>
            <a:r>
              <a:rPr lang="en-GB" dirty="0"/>
              <a:t>(Beginner / Intermediate / Legal Student)</a:t>
            </a:r>
          </a:p>
          <a:p>
            <a:pPr marL="285750" indent="-285750">
              <a:buFont typeface="Wingdings" panose="05000000000000000000" pitchFamily="2" charset="2"/>
              <a:buChar char="v"/>
            </a:pPr>
            <a:r>
              <a:rPr lang="en-GB" dirty="0"/>
              <a:t>response format</a:t>
            </a:r>
            <a:br>
              <a:rPr lang="en-GB" dirty="0"/>
            </a:br>
            <a:r>
              <a:rPr lang="en-GB" dirty="0"/>
              <a:t>(Simple / Detailed / Bullet Points)</a:t>
            </a:r>
          </a:p>
          <a:p>
            <a:br>
              <a:rPr lang="en-GB" dirty="0"/>
            </a:br>
            <a:br>
              <a:rPr lang="en-GB" dirty="0"/>
            </a:br>
            <a:r>
              <a:rPr lang="en-GB" sz="2000" b="1" dirty="0"/>
              <a:t>Step 4: Dynamic Prompt Generation</a:t>
            </a:r>
          </a:p>
          <a:p>
            <a:endParaRPr lang="en-GB" sz="2000" b="1" dirty="0"/>
          </a:p>
          <a:p>
            <a:r>
              <a:rPr lang="en-GB" dirty="0"/>
              <a:t>Python uses </a:t>
            </a:r>
            <a:r>
              <a:rPr lang="en-GB" b="1" dirty="0"/>
              <a:t>f-strings</a:t>
            </a:r>
            <a:r>
              <a:rPr lang="en-GB" dirty="0"/>
              <a:t> to create a customized prompt using:</a:t>
            </a:r>
          </a:p>
          <a:p>
            <a:pPr marL="285750" indent="-285750">
              <a:buFont typeface="Wingdings" panose="05000000000000000000" pitchFamily="2" charset="2"/>
              <a:buChar char="v"/>
            </a:pPr>
            <a:r>
              <a:rPr lang="en-GB" dirty="0"/>
              <a:t>legal text</a:t>
            </a:r>
          </a:p>
          <a:p>
            <a:pPr marL="285750" indent="-285750">
              <a:buFont typeface="Wingdings" panose="05000000000000000000" pitchFamily="2" charset="2"/>
              <a:buChar char="v"/>
            </a:pPr>
            <a:r>
              <a:rPr lang="en-GB" dirty="0"/>
              <a:t>selected level</a:t>
            </a:r>
          </a:p>
          <a:p>
            <a:pPr marL="285750" indent="-285750">
              <a:buFont typeface="Wingdings" panose="05000000000000000000" pitchFamily="2" charset="2"/>
              <a:buChar char="v"/>
            </a:pPr>
            <a:r>
              <a:rPr lang="en-GB" dirty="0"/>
              <a:t>selected tone</a:t>
            </a:r>
          </a:p>
          <a:p>
            <a:r>
              <a:rPr lang="en-GB" dirty="0"/>
              <a:t>This process is called </a:t>
            </a:r>
            <a:r>
              <a:rPr lang="en-GB" b="1" dirty="0"/>
              <a:t>Prompt Engineering</a:t>
            </a:r>
            <a:endParaRPr lang="en-GB" dirty="0"/>
          </a:p>
        </p:txBody>
      </p:sp>
    </p:spTree>
    <p:extLst>
      <p:ext uri="{BB962C8B-B14F-4D97-AF65-F5344CB8AC3E}">
        <p14:creationId xmlns:p14="http://schemas.microsoft.com/office/powerpoint/2010/main" val="2764465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6AAC4-0FD9-F248-FB53-9072D6D7204C}"/>
              </a:ext>
            </a:extLst>
          </p:cNvPr>
          <p:cNvSpPr txBox="1"/>
          <p:nvPr/>
        </p:nvSpPr>
        <p:spPr>
          <a:xfrm>
            <a:off x="740664" y="822960"/>
            <a:ext cx="6428232" cy="4093428"/>
          </a:xfrm>
          <a:prstGeom prst="rect">
            <a:avLst/>
          </a:prstGeom>
          <a:noFill/>
        </p:spPr>
        <p:txBody>
          <a:bodyPr wrap="square">
            <a:spAutoFit/>
          </a:bodyPr>
          <a:lstStyle/>
          <a:p>
            <a:pPr marL="0" indent="0">
              <a:buNone/>
            </a:pPr>
            <a:r>
              <a:rPr lang="en-GB" sz="2000" b="1" dirty="0"/>
              <a:t>Step 5: </a:t>
            </a:r>
            <a:r>
              <a:rPr lang="en-GB" sz="2000" b="1" dirty="0" err="1"/>
              <a:t>Groq</a:t>
            </a:r>
            <a:r>
              <a:rPr lang="en-GB" sz="2000" b="1" dirty="0"/>
              <a:t> API Processing</a:t>
            </a:r>
          </a:p>
          <a:p>
            <a:pPr marL="0" indent="0">
              <a:buNone/>
            </a:pPr>
            <a:endParaRPr lang="en-GB" sz="2000" b="1" dirty="0"/>
          </a:p>
          <a:p>
            <a:r>
              <a:rPr lang="en-GB" dirty="0"/>
              <a:t>The generated prompt is sent to:</a:t>
            </a:r>
          </a:p>
          <a:p>
            <a:r>
              <a:rPr lang="en-GB" b="1" dirty="0" err="1"/>
              <a:t>Groq</a:t>
            </a:r>
            <a:r>
              <a:rPr lang="en-GB" b="1" dirty="0"/>
              <a:t> API → Llama 3.1 Model</a:t>
            </a:r>
            <a:endParaRPr lang="en-GB" dirty="0"/>
          </a:p>
          <a:p>
            <a:r>
              <a:rPr lang="en-GB" dirty="0"/>
              <a:t>The AI processes the request and generates a simplified explanation.</a:t>
            </a:r>
          </a:p>
          <a:p>
            <a:br>
              <a:rPr lang="en-GB" dirty="0"/>
            </a:br>
            <a:endParaRPr lang="en-GB" dirty="0"/>
          </a:p>
          <a:p>
            <a:pPr marL="0" indent="0">
              <a:buNone/>
            </a:pPr>
            <a:r>
              <a:rPr lang="en-GB" sz="2000" b="1" dirty="0"/>
              <a:t>Step 6: Final Output Display</a:t>
            </a:r>
          </a:p>
          <a:p>
            <a:pPr marL="0" indent="0">
              <a:buNone/>
            </a:pPr>
            <a:endParaRPr lang="en-GB" sz="2000" b="1" dirty="0"/>
          </a:p>
          <a:p>
            <a:r>
              <a:rPr lang="en-GB" dirty="0"/>
              <a:t>The explanation is displayed in:</a:t>
            </a:r>
          </a:p>
          <a:p>
            <a:pPr marL="285750" indent="-285750">
              <a:buFont typeface="Wingdings" panose="05000000000000000000" pitchFamily="2" charset="2"/>
              <a:buChar char="v"/>
            </a:pPr>
            <a:r>
              <a:rPr lang="en-GB" dirty="0"/>
              <a:t>clean format</a:t>
            </a:r>
          </a:p>
          <a:p>
            <a:pPr marL="285750" indent="-285750">
              <a:buFont typeface="Wingdings" panose="05000000000000000000" pitchFamily="2" charset="2"/>
              <a:buChar char="v"/>
            </a:pPr>
            <a:r>
              <a:rPr lang="en-GB" dirty="0"/>
              <a:t>markdown style</a:t>
            </a:r>
          </a:p>
          <a:p>
            <a:pPr marL="285750" indent="-285750">
              <a:buFont typeface="Wingdings" panose="05000000000000000000" pitchFamily="2" charset="2"/>
              <a:buChar char="v"/>
            </a:pPr>
            <a:r>
              <a:rPr lang="en-GB" dirty="0"/>
              <a:t>user-friendly interface</a:t>
            </a:r>
          </a:p>
        </p:txBody>
      </p:sp>
    </p:spTree>
    <p:extLst>
      <p:ext uri="{BB962C8B-B14F-4D97-AF65-F5344CB8AC3E}">
        <p14:creationId xmlns:p14="http://schemas.microsoft.com/office/powerpoint/2010/main" val="222120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2AEA-BA36-EB71-C7C5-FF7F881C74CA}"/>
              </a:ext>
            </a:extLst>
          </p:cNvPr>
          <p:cNvSpPr>
            <a:spLocks noGrp="1"/>
          </p:cNvSpPr>
          <p:nvPr>
            <p:ph type="title"/>
          </p:nvPr>
        </p:nvSpPr>
        <p:spPr>
          <a:xfrm>
            <a:off x="588264" y="539495"/>
            <a:ext cx="4532376" cy="795529"/>
          </a:xfrm>
        </p:spPr>
        <p:txBody>
          <a:bodyPr>
            <a:normAutofit fontScale="90000"/>
          </a:bodyPr>
          <a:lstStyle/>
          <a:p>
            <a:br>
              <a:rPr lang="en-IN" b="1" dirty="0"/>
            </a:br>
            <a:br>
              <a:rPr lang="en-IN" b="1" dirty="0"/>
            </a:br>
            <a:br>
              <a:rPr lang="en-IN" b="1" dirty="0"/>
            </a:br>
            <a:br>
              <a:rPr lang="en-IN" b="1" dirty="0"/>
            </a:br>
            <a:r>
              <a:rPr lang="en-IN" b="1" dirty="0"/>
              <a:t>Technologies Used</a:t>
            </a:r>
            <a:br>
              <a:rPr lang="en-IN" b="1" dirty="0"/>
            </a:br>
            <a:endParaRPr lang="en-IN" dirty="0"/>
          </a:p>
        </p:txBody>
      </p:sp>
      <p:sp>
        <p:nvSpPr>
          <p:cNvPr id="3" name="Content Placeholder 2">
            <a:extLst>
              <a:ext uri="{FF2B5EF4-FFF2-40B4-BE49-F238E27FC236}">
                <a16:creationId xmlns:a16="http://schemas.microsoft.com/office/drawing/2014/main" id="{F963F658-ECE4-E94B-2E3C-58B8BAA79F90}"/>
              </a:ext>
            </a:extLst>
          </p:cNvPr>
          <p:cNvSpPr>
            <a:spLocks noGrp="1"/>
          </p:cNvSpPr>
          <p:nvPr>
            <p:ph idx="1"/>
          </p:nvPr>
        </p:nvSpPr>
        <p:spPr>
          <a:xfrm>
            <a:off x="594360" y="1485128"/>
            <a:ext cx="10759440" cy="4924235"/>
          </a:xfrm>
        </p:spPr>
        <p:txBody>
          <a:bodyPr>
            <a:normAutofit/>
          </a:bodyPr>
          <a:lstStyle/>
          <a:p>
            <a:pPr marL="0" indent="0">
              <a:buNone/>
            </a:pPr>
            <a:endParaRPr lang="en-IN" dirty="0"/>
          </a:p>
          <a:p>
            <a:endParaRPr lang="en-IN" dirty="0"/>
          </a:p>
        </p:txBody>
      </p:sp>
      <p:graphicFrame>
        <p:nvGraphicFramePr>
          <p:cNvPr id="5" name="Table 4">
            <a:extLst>
              <a:ext uri="{FF2B5EF4-FFF2-40B4-BE49-F238E27FC236}">
                <a16:creationId xmlns:a16="http://schemas.microsoft.com/office/drawing/2014/main" id="{A9F4FCCA-EEC5-83F5-8C53-5FF29F504589}"/>
              </a:ext>
            </a:extLst>
          </p:cNvPr>
          <p:cNvGraphicFramePr>
            <a:graphicFrameLocks noGrp="1"/>
          </p:cNvGraphicFramePr>
          <p:nvPr>
            <p:extLst>
              <p:ext uri="{D42A27DB-BD31-4B8C-83A1-F6EECF244321}">
                <p14:modId xmlns:p14="http://schemas.microsoft.com/office/powerpoint/2010/main" val="2815984641"/>
              </p:ext>
            </p:extLst>
          </p:nvPr>
        </p:nvGraphicFramePr>
        <p:xfrm>
          <a:off x="804672" y="1207008"/>
          <a:ext cx="10799064" cy="4444385"/>
        </p:xfrm>
        <a:graphic>
          <a:graphicData uri="http://schemas.openxmlformats.org/drawingml/2006/table">
            <a:tbl>
              <a:tblPr firstRow="1" bandRow="1">
                <a:tableStyleId>{5C22544A-7EE6-4342-B048-85BDC9FD1C3A}</a:tableStyleId>
              </a:tblPr>
              <a:tblGrid>
                <a:gridCol w="3900219">
                  <a:extLst>
                    <a:ext uri="{9D8B030D-6E8A-4147-A177-3AD203B41FA5}">
                      <a16:colId xmlns:a16="http://schemas.microsoft.com/office/drawing/2014/main" val="2712795701"/>
                    </a:ext>
                  </a:extLst>
                </a:gridCol>
                <a:gridCol w="2027842">
                  <a:extLst>
                    <a:ext uri="{9D8B030D-6E8A-4147-A177-3AD203B41FA5}">
                      <a16:colId xmlns:a16="http://schemas.microsoft.com/office/drawing/2014/main" val="1622306038"/>
                    </a:ext>
                  </a:extLst>
                </a:gridCol>
                <a:gridCol w="2351879">
                  <a:extLst>
                    <a:ext uri="{9D8B030D-6E8A-4147-A177-3AD203B41FA5}">
                      <a16:colId xmlns:a16="http://schemas.microsoft.com/office/drawing/2014/main" val="4270759789"/>
                    </a:ext>
                  </a:extLst>
                </a:gridCol>
                <a:gridCol w="2519124">
                  <a:extLst>
                    <a:ext uri="{9D8B030D-6E8A-4147-A177-3AD203B41FA5}">
                      <a16:colId xmlns:a16="http://schemas.microsoft.com/office/drawing/2014/main" val="3713112257"/>
                    </a:ext>
                  </a:extLst>
                </a:gridCol>
              </a:tblGrid>
              <a:tr h="940679">
                <a:tc>
                  <a:txBody>
                    <a:bodyPr/>
                    <a:lstStyle/>
                    <a:p>
                      <a:r>
                        <a:rPr lang="en-IN" sz="2800" b="1" dirty="0"/>
                        <a:t>Frontend </a:t>
                      </a:r>
                      <a:endParaRPr lang="en-IN"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Backend / Logic</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File Processing</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t>Deployment</a:t>
                      </a:r>
                    </a:p>
                    <a:p>
                      <a:endParaRPr lang="en-IN" dirty="0"/>
                    </a:p>
                  </a:txBody>
                  <a:tcPr/>
                </a:tc>
                <a:extLst>
                  <a:ext uri="{0D108BD9-81ED-4DB2-BD59-A6C34878D82A}">
                    <a16:rowId xmlns:a16="http://schemas.microsoft.com/office/drawing/2014/main" val="3424299023"/>
                  </a:ext>
                </a:extLst>
              </a:tr>
              <a:tr h="940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dirty="0"/>
                        <a:t>Python</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err="1"/>
                        <a:t>Groq</a:t>
                      </a:r>
                      <a:r>
                        <a:rPr lang="en-IN" sz="2400" dirty="0"/>
                        <a:t> API</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PyPDF2</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err="1"/>
                        <a:t>Jupyter</a:t>
                      </a:r>
                      <a:r>
                        <a:rPr lang="en-IN" sz="2400" dirty="0"/>
                        <a:t> Notebook</a:t>
                      </a:r>
                    </a:p>
                    <a:p>
                      <a:endParaRPr lang="en-IN" dirty="0"/>
                    </a:p>
                  </a:txBody>
                  <a:tcPr/>
                </a:tc>
                <a:extLst>
                  <a:ext uri="{0D108BD9-81ED-4DB2-BD59-A6C34878D82A}">
                    <a16:rowId xmlns:a16="http://schemas.microsoft.com/office/drawing/2014/main" val="268092959"/>
                  </a:ext>
                </a:extLst>
              </a:tr>
              <a:tr h="13438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err="1"/>
                        <a:t>ipywidgets</a:t>
                      </a:r>
                      <a:endParaRPr lang="en-IN" sz="240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Llama 3.1 8B Instant Model</a:t>
                      </a:r>
                    </a:p>
                    <a:p>
                      <a:endParaRPr lang="en-IN" dirty="0"/>
                    </a:p>
                  </a:txBody>
                  <a:tcPr/>
                </a:tc>
                <a:tc>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Voilà</a:t>
                      </a:r>
                    </a:p>
                    <a:p>
                      <a:endParaRPr lang="en-IN" dirty="0"/>
                    </a:p>
                  </a:txBody>
                  <a:tcPr/>
                </a:tc>
                <a:extLst>
                  <a:ext uri="{0D108BD9-81ED-4DB2-BD59-A6C34878D82A}">
                    <a16:rowId xmlns:a16="http://schemas.microsoft.com/office/drawing/2014/main" val="539946992"/>
                  </a:ext>
                </a:extLst>
              </a:tr>
              <a:tr h="940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HTML + CSS</a:t>
                      </a:r>
                    </a:p>
                    <a:p>
                      <a:endParaRPr lang="en-IN" dirty="0"/>
                    </a:p>
                  </a:txBody>
                  <a:tcPr/>
                </a:tc>
                <a:tc>
                  <a:txBody>
                    <a:bodyPr/>
                    <a:lstStyle/>
                    <a:p>
                      <a:endParaRPr lang="en-IN" dirty="0"/>
                    </a:p>
                  </a:txBody>
                  <a:tcPr/>
                </a:tc>
                <a:tc>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Localhost</a:t>
                      </a:r>
                    </a:p>
                    <a:p>
                      <a:endParaRPr lang="en-IN" dirty="0"/>
                    </a:p>
                  </a:txBody>
                  <a:tcPr/>
                </a:tc>
                <a:extLst>
                  <a:ext uri="{0D108BD9-81ED-4DB2-BD59-A6C34878D82A}">
                    <a16:rowId xmlns:a16="http://schemas.microsoft.com/office/drawing/2014/main" val="2218578369"/>
                  </a:ext>
                </a:extLst>
              </a:tr>
            </a:tbl>
          </a:graphicData>
        </a:graphic>
      </p:graphicFrame>
    </p:spTree>
    <p:extLst>
      <p:ext uri="{BB962C8B-B14F-4D97-AF65-F5344CB8AC3E}">
        <p14:creationId xmlns:p14="http://schemas.microsoft.com/office/powerpoint/2010/main" val="2850550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E9C89-5898-C449-E5F3-D0701123BDBF}"/>
              </a:ext>
            </a:extLst>
          </p:cNvPr>
          <p:cNvSpPr>
            <a:spLocks noGrp="1"/>
          </p:cNvSpPr>
          <p:nvPr>
            <p:ph type="title"/>
          </p:nvPr>
        </p:nvSpPr>
        <p:spPr>
          <a:xfrm>
            <a:off x="606552" y="365760"/>
            <a:ext cx="10101072" cy="1152144"/>
          </a:xfrm>
        </p:spPr>
        <p:txBody>
          <a:bodyPr>
            <a:normAutofit fontScale="90000"/>
          </a:bodyPr>
          <a:lstStyle/>
          <a:p>
            <a:br>
              <a:rPr lang="en-IN" b="1" dirty="0"/>
            </a:br>
            <a:br>
              <a:rPr lang="en-IN" b="1" dirty="0"/>
            </a:br>
            <a:br>
              <a:rPr lang="en-IN" b="1" dirty="0"/>
            </a:br>
            <a:r>
              <a:rPr lang="en-IN" b="1" dirty="0"/>
              <a:t>Working of the System</a:t>
            </a:r>
            <a:br>
              <a:rPr lang="en-IN" b="1" dirty="0"/>
            </a:br>
            <a:endParaRPr lang="en-IN" dirty="0"/>
          </a:p>
        </p:txBody>
      </p:sp>
      <p:pic>
        <p:nvPicPr>
          <p:cNvPr id="6" name="Content Placeholder 5">
            <a:extLst>
              <a:ext uri="{FF2B5EF4-FFF2-40B4-BE49-F238E27FC236}">
                <a16:creationId xmlns:a16="http://schemas.microsoft.com/office/drawing/2014/main" id="{FF3BCF35-5695-A0B0-4033-E5051F6B18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6656" y="1014984"/>
            <a:ext cx="10844784" cy="5358384"/>
          </a:xfrm>
          <a:prstGeom prst="rect">
            <a:avLst/>
          </a:prstGeom>
        </p:spPr>
      </p:pic>
    </p:spTree>
    <p:extLst>
      <p:ext uri="{BB962C8B-B14F-4D97-AF65-F5344CB8AC3E}">
        <p14:creationId xmlns:p14="http://schemas.microsoft.com/office/powerpoint/2010/main" val="1727296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FBCE1-814F-4469-1831-4D424C03C470}"/>
              </a:ext>
            </a:extLst>
          </p:cNvPr>
          <p:cNvSpPr>
            <a:spLocks noGrp="1"/>
          </p:cNvSpPr>
          <p:nvPr>
            <p:ph type="title"/>
          </p:nvPr>
        </p:nvSpPr>
        <p:spPr>
          <a:xfrm>
            <a:off x="1271016" y="826099"/>
            <a:ext cx="10058400" cy="1450757"/>
          </a:xfrm>
        </p:spPr>
        <p:txBody>
          <a:bodyPr>
            <a:normAutofit fontScale="90000"/>
          </a:bodyPr>
          <a:lstStyle/>
          <a:p>
            <a:br>
              <a:rPr lang="en-IN" b="1" dirty="0"/>
            </a:br>
            <a:br>
              <a:rPr lang="en-IN" b="1" dirty="0"/>
            </a:br>
            <a:br>
              <a:rPr lang="en-IN" b="1" dirty="0"/>
            </a:br>
            <a:r>
              <a:rPr lang="en-IN" b="1" dirty="0"/>
              <a:t>Novelty of the Project</a:t>
            </a:r>
            <a:br>
              <a:rPr lang="en-IN" b="1" dirty="0"/>
            </a:br>
            <a:endParaRPr lang="en-IN" dirty="0"/>
          </a:p>
        </p:txBody>
      </p:sp>
      <p:sp>
        <p:nvSpPr>
          <p:cNvPr id="3" name="Content Placeholder 2">
            <a:extLst>
              <a:ext uri="{FF2B5EF4-FFF2-40B4-BE49-F238E27FC236}">
                <a16:creationId xmlns:a16="http://schemas.microsoft.com/office/drawing/2014/main" id="{CD84EACB-D68C-4E44-FC0B-9C8C96A66AC9}"/>
              </a:ext>
            </a:extLst>
          </p:cNvPr>
          <p:cNvSpPr>
            <a:spLocks noGrp="1"/>
          </p:cNvSpPr>
          <p:nvPr>
            <p:ph idx="1"/>
          </p:nvPr>
        </p:nvSpPr>
        <p:spPr>
          <a:xfrm>
            <a:off x="1389888" y="2350008"/>
            <a:ext cx="9765792" cy="3519086"/>
          </a:xfrm>
        </p:spPr>
        <p:txBody>
          <a:bodyPr/>
          <a:lstStyle/>
          <a:p>
            <a:r>
              <a:rPr lang="en-GB" b="1" dirty="0"/>
              <a:t>1. AI-Based Legal Simplification</a:t>
            </a:r>
          </a:p>
          <a:p>
            <a:r>
              <a:rPr lang="en-GB" dirty="0"/>
              <a:t>Unlike normal legal dictionaries, our system provides:</a:t>
            </a:r>
          </a:p>
          <a:p>
            <a:pPr>
              <a:buFont typeface="Wingdings" panose="05000000000000000000" pitchFamily="2" charset="2"/>
              <a:buChar char="v"/>
            </a:pPr>
            <a:r>
              <a:rPr lang="en-GB" dirty="0"/>
              <a:t>smart explanation</a:t>
            </a:r>
          </a:p>
          <a:p>
            <a:pPr>
              <a:buFont typeface="Wingdings" panose="05000000000000000000" pitchFamily="2" charset="2"/>
              <a:buChar char="v"/>
            </a:pPr>
            <a:r>
              <a:rPr lang="en-GB" dirty="0"/>
              <a:t>real-world examples</a:t>
            </a:r>
          </a:p>
          <a:p>
            <a:pPr>
              <a:buFont typeface="Wingdings" panose="05000000000000000000" pitchFamily="2" charset="2"/>
              <a:buChar char="v"/>
            </a:pPr>
            <a:r>
              <a:rPr lang="en-GB" dirty="0"/>
              <a:t>personalized understanding</a:t>
            </a:r>
          </a:p>
          <a:p>
            <a:endParaRPr lang="en-IN" dirty="0"/>
          </a:p>
        </p:txBody>
      </p:sp>
    </p:spTree>
    <p:extLst>
      <p:ext uri="{BB962C8B-B14F-4D97-AF65-F5344CB8AC3E}">
        <p14:creationId xmlns:p14="http://schemas.microsoft.com/office/powerpoint/2010/main" val="3591022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3ABB24-8684-AA47-773E-C6E716982507}"/>
              </a:ext>
            </a:extLst>
          </p:cNvPr>
          <p:cNvSpPr txBox="1"/>
          <p:nvPr/>
        </p:nvSpPr>
        <p:spPr>
          <a:xfrm>
            <a:off x="978408" y="914401"/>
            <a:ext cx="5724144" cy="5455340"/>
          </a:xfrm>
          <a:prstGeom prst="rect">
            <a:avLst/>
          </a:prstGeom>
          <a:noFill/>
        </p:spPr>
        <p:txBody>
          <a:bodyPr wrap="square">
            <a:spAutoFit/>
          </a:bodyPr>
          <a:lstStyle/>
          <a:p>
            <a:r>
              <a:rPr lang="en-GB" sz="2000" b="1" dirty="0"/>
              <a:t>2. Multi-Level Explanation System</a:t>
            </a:r>
          </a:p>
          <a:p>
            <a:r>
              <a:rPr lang="en-GB" dirty="0"/>
              <a:t>Same legal term can be explained for:</a:t>
            </a:r>
          </a:p>
          <a:p>
            <a:pPr marL="285750" indent="-285750">
              <a:buFont typeface="Wingdings" panose="05000000000000000000" pitchFamily="2" charset="2"/>
              <a:buChar char="v"/>
            </a:pPr>
            <a:r>
              <a:rPr lang="en-GB" dirty="0"/>
              <a:t>beginners</a:t>
            </a:r>
          </a:p>
          <a:p>
            <a:pPr marL="285750" indent="-285750">
              <a:buFont typeface="Wingdings" panose="05000000000000000000" pitchFamily="2" charset="2"/>
              <a:buChar char="v"/>
            </a:pPr>
            <a:r>
              <a:rPr lang="en-GB" dirty="0"/>
              <a:t>intermediate learners</a:t>
            </a:r>
          </a:p>
          <a:p>
            <a:pPr marL="285750" indent="-285750">
              <a:buFont typeface="Wingdings" panose="05000000000000000000" pitchFamily="2" charset="2"/>
              <a:buChar char="v"/>
            </a:pPr>
            <a:r>
              <a:rPr lang="en-GB" dirty="0"/>
              <a:t>legal students</a:t>
            </a:r>
          </a:p>
          <a:p>
            <a:r>
              <a:rPr lang="en-GB" dirty="0"/>
              <a:t>This makes the project useful for different users.</a:t>
            </a:r>
            <a:br>
              <a:rPr lang="en-GB" dirty="0"/>
            </a:br>
            <a:endParaRPr lang="en-GB" dirty="0"/>
          </a:p>
          <a:p>
            <a:br>
              <a:rPr lang="en-GB" dirty="0"/>
            </a:br>
            <a:r>
              <a:rPr lang="en-GB" sz="2000" b="1" dirty="0"/>
              <a:t>3</a:t>
            </a:r>
            <a:r>
              <a:rPr lang="en-GB" sz="2000" dirty="0"/>
              <a:t>.</a:t>
            </a:r>
            <a:r>
              <a:rPr lang="en-GB" sz="2000" b="1" dirty="0"/>
              <a:t> PDF-to-Explanation Feature</a:t>
            </a:r>
          </a:p>
          <a:p>
            <a:pPr marL="285750" indent="-285750">
              <a:buFont typeface="Wingdings" panose="05000000000000000000" pitchFamily="2" charset="2"/>
              <a:buChar char="v"/>
            </a:pPr>
            <a:r>
              <a:rPr lang="en-GB" dirty="0"/>
              <a:t>Users can directly upload contracts and legal PDFs instead of manually typing everything.</a:t>
            </a:r>
          </a:p>
          <a:p>
            <a:r>
              <a:rPr lang="en-GB" dirty="0"/>
              <a:t>This makes the system practical and time-saving.</a:t>
            </a:r>
          </a:p>
          <a:p>
            <a:endParaRPr lang="en-GB" dirty="0"/>
          </a:p>
          <a:p>
            <a:pPr algn="l">
              <a:spcAft>
                <a:spcPts val="300"/>
              </a:spcAft>
              <a:buNone/>
            </a:pPr>
            <a:r>
              <a:rPr lang="en-GB" b="1" i="0" dirty="0" err="1">
                <a:solidFill>
                  <a:srgbClr val="FFFFFF"/>
                </a:solidFill>
                <a:effectLst/>
                <a:latin typeface="-apple-system-body"/>
              </a:rPr>
              <a:t>ulti</a:t>
            </a:r>
            <a:r>
              <a:rPr lang="en-GB" b="1" i="0" dirty="0">
                <a:solidFill>
                  <a:srgbClr val="FFFFFF"/>
                </a:solidFill>
                <a:effectLst/>
                <a:latin typeface="-apple-system-body"/>
              </a:rPr>
              <a:t>-Level Explanation System</a:t>
            </a:r>
          </a:p>
          <a:p>
            <a:pPr algn="l">
              <a:buNone/>
            </a:pPr>
            <a:r>
              <a:rPr lang="en-GB" b="0" i="0" dirty="0">
                <a:solidFill>
                  <a:srgbClr val="FFFFFF"/>
                </a:solidFill>
                <a:effectLst/>
                <a:latin typeface="-apple-system-body"/>
              </a:rPr>
              <a:t>Same legal term can be explained for:</a:t>
            </a:r>
          </a:p>
          <a:p>
            <a:pPr algn="l">
              <a:buFont typeface="Arial" panose="020B0604020202020204" pitchFamily="34" charset="0"/>
              <a:buChar char="•"/>
            </a:pPr>
            <a:r>
              <a:rPr lang="en-GB" b="0" i="0" dirty="0">
                <a:solidFill>
                  <a:srgbClr val="FFFFFF"/>
                </a:solidFill>
                <a:effectLst/>
                <a:latin typeface="-apple-system-body"/>
              </a:rPr>
              <a:t>beginners</a:t>
            </a:r>
          </a:p>
          <a:p>
            <a:pPr algn="l">
              <a:buFont typeface="Arial" panose="020B0604020202020204" pitchFamily="34" charset="0"/>
              <a:buChar char="•"/>
            </a:pPr>
            <a:r>
              <a:rPr lang="en-GB" b="0" i="0" dirty="0">
                <a:solidFill>
                  <a:srgbClr val="FFFFFF"/>
                </a:solidFill>
                <a:effectLst/>
                <a:latin typeface="-apple-system-body"/>
              </a:rPr>
              <a:t>intermediate learners</a:t>
            </a:r>
          </a:p>
          <a:p>
            <a:pPr algn="l">
              <a:buFont typeface="Arial" panose="020B0604020202020204" pitchFamily="34" charset="0"/>
              <a:buChar char="•"/>
            </a:pPr>
            <a:r>
              <a:rPr lang="en-GB" b="0" i="0" dirty="0">
                <a:solidFill>
                  <a:srgbClr val="FFFFFF"/>
                </a:solidFill>
                <a:effectLst/>
                <a:latin typeface="-apple-system-body"/>
              </a:rPr>
              <a:t>legal students</a:t>
            </a:r>
          </a:p>
          <a:p>
            <a:pPr algn="l">
              <a:buNone/>
            </a:pPr>
            <a:r>
              <a:rPr lang="en-GB" b="0" i="0" dirty="0">
                <a:solidFill>
                  <a:srgbClr val="FFFFFF"/>
                </a:solidFill>
                <a:effectLst/>
                <a:latin typeface="-apple-system-body"/>
              </a:rPr>
              <a:t>This makes the project useful for different users.</a:t>
            </a:r>
          </a:p>
        </p:txBody>
      </p:sp>
    </p:spTree>
    <p:extLst>
      <p:ext uri="{BB962C8B-B14F-4D97-AF65-F5344CB8AC3E}">
        <p14:creationId xmlns:p14="http://schemas.microsoft.com/office/powerpoint/2010/main" val="2251311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B9414-902D-DAC9-0EF0-1FBC9EBC1EAB}"/>
              </a:ext>
            </a:extLst>
          </p:cNvPr>
          <p:cNvSpPr>
            <a:spLocks noGrp="1"/>
          </p:cNvSpPr>
          <p:nvPr>
            <p:ph type="title"/>
          </p:nvPr>
        </p:nvSpPr>
        <p:spPr>
          <a:xfrm>
            <a:off x="1024128" y="320040"/>
            <a:ext cx="10012680" cy="1086375"/>
          </a:xfrm>
        </p:spPr>
        <p:txBody>
          <a:bodyPr>
            <a:normAutofit fontScale="90000"/>
          </a:bodyPr>
          <a:lstStyle/>
          <a:p>
            <a:r>
              <a:rPr lang="en-IN" b="1" dirty="0"/>
              <a:t>Result Demonstration</a:t>
            </a:r>
            <a:br>
              <a:rPr lang="en-IN" dirty="0"/>
            </a:br>
            <a:endParaRPr lang="en-IN" dirty="0"/>
          </a:p>
        </p:txBody>
      </p:sp>
      <p:pic>
        <p:nvPicPr>
          <p:cNvPr id="9" name="Content Placeholder 8">
            <a:extLst>
              <a:ext uri="{FF2B5EF4-FFF2-40B4-BE49-F238E27FC236}">
                <a16:creationId xmlns:a16="http://schemas.microsoft.com/office/drawing/2014/main" id="{ACADBA86-EFFA-29CB-22F0-A50F6DA65F3C}"/>
              </a:ext>
            </a:extLst>
          </p:cNvPr>
          <p:cNvPicPr>
            <a:picLocks noGrp="1" noChangeAspect="1"/>
          </p:cNvPicPr>
          <p:nvPr>
            <p:ph idx="1"/>
          </p:nvPr>
        </p:nvPicPr>
        <p:blipFill>
          <a:blip r:embed="rId2"/>
          <a:stretch>
            <a:fillRect/>
          </a:stretch>
        </p:blipFill>
        <p:spPr>
          <a:xfrm>
            <a:off x="365760" y="895554"/>
            <a:ext cx="11055096" cy="5281409"/>
          </a:xfrm>
          <a:prstGeom prst="rect">
            <a:avLst/>
          </a:prstGeom>
        </p:spPr>
      </p:pic>
    </p:spTree>
    <p:extLst>
      <p:ext uri="{BB962C8B-B14F-4D97-AF65-F5344CB8AC3E}">
        <p14:creationId xmlns:p14="http://schemas.microsoft.com/office/powerpoint/2010/main" val="749273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EC94DC9-ED1E-284F-31F3-C36ECAA54DAF}"/>
              </a:ext>
            </a:extLst>
          </p:cNvPr>
          <p:cNvPicPr>
            <a:picLocks noGrp="1" noChangeAspect="1"/>
          </p:cNvPicPr>
          <p:nvPr>
            <p:ph idx="1"/>
          </p:nvPr>
        </p:nvPicPr>
        <p:blipFill>
          <a:blip r:embed="rId2"/>
          <a:stretch>
            <a:fillRect/>
          </a:stretch>
        </p:blipFill>
        <p:spPr>
          <a:xfrm>
            <a:off x="914400" y="361720"/>
            <a:ext cx="10220426" cy="5641508"/>
          </a:xfrm>
          <a:prstGeom prst="rect">
            <a:avLst/>
          </a:prstGeom>
        </p:spPr>
      </p:pic>
    </p:spTree>
    <p:extLst>
      <p:ext uri="{BB962C8B-B14F-4D97-AF65-F5344CB8AC3E}">
        <p14:creationId xmlns:p14="http://schemas.microsoft.com/office/powerpoint/2010/main" val="4272532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F8E179-6FE1-400F-4BBD-A1C6D0BE9456}"/>
              </a:ext>
            </a:extLst>
          </p:cNvPr>
          <p:cNvPicPr>
            <a:picLocks noGrp="1" noChangeAspect="1"/>
          </p:cNvPicPr>
          <p:nvPr>
            <p:ph idx="1"/>
          </p:nvPr>
        </p:nvPicPr>
        <p:blipFill>
          <a:blip r:embed="rId2"/>
          <a:stretch>
            <a:fillRect/>
          </a:stretch>
        </p:blipFill>
        <p:spPr>
          <a:xfrm>
            <a:off x="594360" y="199222"/>
            <a:ext cx="10579608" cy="5977742"/>
          </a:xfrm>
          <a:prstGeom prst="rect">
            <a:avLst/>
          </a:prstGeom>
        </p:spPr>
      </p:pic>
    </p:spTree>
    <p:extLst>
      <p:ext uri="{BB962C8B-B14F-4D97-AF65-F5344CB8AC3E}">
        <p14:creationId xmlns:p14="http://schemas.microsoft.com/office/powerpoint/2010/main" val="1455319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9AD2CA-6245-A7FA-E797-44ED2DC3FD3A}"/>
              </a:ext>
            </a:extLst>
          </p:cNvPr>
          <p:cNvPicPr>
            <a:picLocks noGrp="1" noChangeAspect="1"/>
          </p:cNvPicPr>
          <p:nvPr>
            <p:ph idx="1"/>
          </p:nvPr>
        </p:nvPicPr>
        <p:blipFill>
          <a:blip r:embed="rId2"/>
          <a:stretch>
            <a:fillRect/>
          </a:stretch>
        </p:blipFill>
        <p:spPr>
          <a:xfrm>
            <a:off x="448056" y="731520"/>
            <a:ext cx="11320272" cy="5445443"/>
          </a:xfrm>
          <a:prstGeom prst="rect">
            <a:avLst/>
          </a:prstGeom>
        </p:spPr>
      </p:pic>
    </p:spTree>
    <p:extLst>
      <p:ext uri="{BB962C8B-B14F-4D97-AF65-F5344CB8AC3E}">
        <p14:creationId xmlns:p14="http://schemas.microsoft.com/office/powerpoint/2010/main" val="291059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393AEC-9181-4559-9971-86F1A84D995C}"/>
              </a:ext>
            </a:extLst>
          </p:cNvPr>
          <p:cNvPicPr>
            <a:picLocks noChangeAspect="1"/>
          </p:cNvPicPr>
          <p:nvPr/>
        </p:nvPicPr>
        <p:blipFill>
          <a:blip r:embed="rId2"/>
          <a:stretch>
            <a:fillRect/>
          </a:stretch>
        </p:blipFill>
        <p:spPr>
          <a:xfrm>
            <a:off x="2101262" y="339613"/>
            <a:ext cx="7696867" cy="5502117"/>
          </a:xfrm>
          <a:prstGeom prst="rect">
            <a:avLst/>
          </a:prstGeom>
        </p:spPr>
      </p:pic>
    </p:spTree>
    <p:extLst>
      <p:ext uri="{BB962C8B-B14F-4D97-AF65-F5344CB8AC3E}">
        <p14:creationId xmlns:p14="http://schemas.microsoft.com/office/powerpoint/2010/main" val="120869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8AC733-C60C-19DF-D04A-B3DBD66E9EE9}"/>
              </a:ext>
            </a:extLst>
          </p:cNvPr>
          <p:cNvPicPr>
            <a:picLocks noChangeAspect="1"/>
          </p:cNvPicPr>
          <p:nvPr/>
        </p:nvPicPr>
        <p:blipFill>
          <a:blip r:embed="rId2"/>
          <a:stretch>
            <a:fillRect/>
          </a:stretch>
        </p:blipFill>
        <p:spPr>
          <a:xfrm>
            <a:off x="923544" y="350108"/>
            <a:ext cx="10488167" cy="5937023"/>
          </a:xfrm>
          <a:prstGeom prst="rect">
            <a:avLst/>
          </a:prstGeom>
        </p:spPr>
      </p:pic>
    </p:spTree>
    <p:extLst>
      <p:ext uri="{BB962C8B-B14F-4D97-AF65-F5344CB8AC3E}">
        <p14:creationId xmlns:p14="http://schemas.microsoft.com/office/powerpoint/2010/main" val="1201181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E4F4D38-FC83-D82D-349A-4DB35777CFED}"/>
              </a:ext>
            </a:extLst>
          </p:cNvPr>
          <p:cNvPicPr>
            <a:picLocks noGrp="1" noChangeAspect="1"/>
          </p:cNvPicPr>
          <p:nvPr>
            <p:ph idx="1"/>
          </p:nvPr>
        </p:nvPicPr>
        <p:blipFill>
          <a:blip r:embed="rId2"/>
          <a:stretch>
            <a:fillRect/>
          </a:stretch>
        </p:blipFill>
        <p:spPr>
          <a:xfrm>
            <a:off x="1179576" y="0"/>
            <a:ext cx="10204704" cy="6287441"/>
          </a:xfrm>
          <a:prstGeom prst="rect">
            <a:avLst/>
          </a:prstGeom>
        </p:spPr>
      </p:pic>
    </p:spTree>
    <p:extLst>
      <p:ext uri="{BB962C8B-B14F-4D97-AF65-F5344CB8AC3E}">
        <p14:creationId xmlns:p14="http://schemas.microsoft.com/office/powerpoint/2010/main" val="3600617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73E2C-FEAA-4A74-47D7-87BE07A0A5F5}"/>
              </a:ext>
            </a:extLst>
          </p:cNvPr>
          <p:cNvSpPr>
            <a:spLocks noGrp="1"/>
          </p:cNvSpPr>
          <p:nvPr>
            <p:ph type="title"/>
          </p:nvPr>
        </p:nvSpPr>
        <p:spPr>
          <a:xfrm>
            <a:off x="1271016" y="988906"/>
            <a:ext cx="10058400" cy="1450757"/>
          </a:xfrm>
        </p:spPr>
        <p:txBody>
          <a:bodyPr/>
          <a:lstStyle/>
          <a:p>
            <a:r>
              <a:rPr lang="en-GB" b="1" dirty="0"/>
              <a:t>Conclusion</a:t>
            </a:r>
            <a:br>
              <a:rPr lang="en-GB" b="1" dirty="0"/>
            </a:br>
            <a:endParaRPr lang="en-IN" dirty="0"/>
          </a:p>
        </p:txBody>
      </p:sp>
      <p:sp>
        <p:nvSpPr>
          <p:cNvPr id="3" name="Content Placeholder 2">
            <a:extLst>
              <a:ext uri="{FF2B5EF4-FFF2-40B4-BE49-F238E27FC236}">
                <a16:creationId xmlns:a16="http://schemas.microsoft.com/office/drawing/2014/main" id="{B08A9027-329B-644F-83B6-18B36A70C931}"/>
              </a:ext>
            </a:extLst>
          </p:cNvPr>
          <p:cNvSpPr>
            <a:spLocks noGrp="1"/>
          </p:cNvSpPr>
          <p:nvPr>
            <p:ph idx="1"/>
          </p:nvPr>
        </p:nvSpPr>
        <p:spPr>
          <a:xfrm>
            <a:off x="1417320" y="1929384"/>
            <a:ext cx="9738360" cy="3939710"/>
          </a:xfrm>
        </p:spPr>
        <p:txBody>
          <a:bodyPr/>
          <a:lstStyle/>
          <a:p>
            <a:r>
              <a:rPr lang="en-GB" dirty="0"/>
              <a:t>In conclusion, AI Legal Terms Explainer helps bridge the gap between legal professionals and common people.</a:t>
            </a:r>
          </a:p>
          <a:p>
            <a:pPr>
              <a:buFont typeface="Wingdings" panose="05000000000000000000" pitchFamily="2" charset="2"/>
              <a:buChar char="v"/>
            </a:pPr>
            <a:r>
              <a:rPr lang="en-GB" dirty="0"/>
              <a:t>It simplifies difficult legal language using Artificial Intelligence and makes legal understanding faster, easier, and more accessible.</a:t>
            </a:r>
          </a:p>
          <a:p>
            <a:pPr>
              <a:buFont typeface="Wingdings" panose="05000000000000000000" pitchFamily="2" charset="2"/>
              <a:buChar char="v"/>
            </a:pPr>
            <a:r>
              <a:rPr lang="en-GB" dirty="0"/>
              <a:t>This project shows how AI can be used to solve real-world problems in a practical way.</a:t>
            </a:r>
          </a:p>
          <a:p>
            <a:endParaRPr lang="en-IN" dirty="0"/>
          </a:p>
        </p:txBody>
      </p:sp>
    </p:spTree>
    <p:extLst>
      <p:ext uri="{BB962C8B-B14F-4D97-AF65-F5344CB8AC3E}">
        <p14:creationId xmlns:p14="http://schemas.microsoft.com/office/powerpoint/2010/main" val="1958002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D2F9EA-B384-5362-BEF9-704353489621}"/>
              </a:ext>
            </a:extLst>
          </p:cNvPr>
          <p:cNvSpPr txBox="1"/>
          <p:nvPr/>
        </p:nvSpPr>
        <p:spPr>
          <a:xfrm>
            <a:off x="2782062" y="2108191"/>
            <a:ext cx="6094476" cy="1577355"/>
          </a:xfrm>
          <a:prstGeom prst="rect">
            <a:avLst/>
          </a:prstGeom>
          <a:noFill/>
        </p:spPr>
        <p:txBody>
          <a:bodyPr wrap="square">
            <a:spAutoFit/>
          </a:bodyPr>
          <a:lstStyle/>
          <a:p>
            <a:r>
              <a:rPr lang="en-GB" sz="3600" b="1" i="0" dirty="0">
                <a:solidFill>
                  <a:srgbClr val="FFFFFF"/>
                </a:solidFill>
                <a:effectLst/>
                <a:latin typeface="-apple-system-body"/>
              </a:rPr>
              <a:t>Than    </a:t>
            </a:r>
            <a:r>
              <a:rPr lang="en-GB" sz="4000" b="1" i="0" dirty="0" err="1">
                <a:solidFill>
                  <a:srgbClr val="FFFFFF"/>
                </a:solidFill>
                <a:effectLst/>
                <a:latin typeface="-apple-system-body"/>
              </a:rPr>
              <a:t>k</a:t>
            </a:r>
            <a:r>
              <a:rPr lang="en-GB" sz="4000" b="1" dirty="0" err="1"/>
              <a:t>Thank</a:t>
            </a:r>
            <a:r>
              <a:rPr lang="en-GB" sz="4000" b="1" dirty="0"/>
              <a:t> You</a:t>
            </a:r>
          </a:p>
          <a:p>
            <a:r>
              <a:rPr lang="en-GB" dirty="0"/>
              <a:t>                  Thank you for listening to my presentation.</a:t>
            </a:r>
          </a:p>
          <a:p>
            <a:pPr algn="l">
              <a:spcAft>
                <a:spcPts val="300"/>
              </a:spcAft>
              <a:buNone/>
            </a:pPr>
            <a:r>
              <a:rPr lang="en-GB" b="1" i="0" dirty="0">
                <a:solidFill>
                  <a:srgbClr val="FFFFFF"/>
                </a:solidFill>
                <a:effectLst/>
                <a:latin typeface="-apple-system-body"/>
              </a:rPr>
              <a:t> You</a:t>
            </a:r>
          </a:p>
          <a:p>
            <a:pPr algn="l">
              <a:buNone/>
            </a:pPr>
            <a:r>
              <a:rPr lang="en-GB" b="0" i="0" dirty="0">
                <a:solidFill>
                  <a:srgbClr val="FFFFFF"/>
                </a:solidFill>
                <a:effectLst/>
                <a:latin typeface="-apple-system-body"/>
              </a:rPr>
              <a:t>Thank you for listening to my presentation.</a:t>
            </a:r>
          </a:p>
        </p:txBody>
      </p:sp>
    </p:spTree>
    <p:extLst>
      <p:ext uri="{BB962C8B-B14F-4D97-AF65-F5344CB8AC3E}">
        <p14:creationId xmlns:p14="http://schemas.microsoft.com/office/powerpoint/2010/main" val="287411684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1487</TotalTime>
  <Words>562</Words>
  <Application>Microsoft Office PowerPoint</Application>
  <PresentationFormat>Widescreen</PresentationFormat>
  <Paragraphs>102</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-apple-system-body</vt:lpstr>
      <vt:lpstr>Arial</vt:lpstr>
      <vt:lpstr>Calibri</vt:lpstr>
      <vt:lpstr>Calibri Light</vt:lpstr>
      <vt:lpstr>Wingdings</vt:lpstr>
      <vt:lpstr>Retrospect</vt:lpstr>
      <vt:lpstr>PowerPoint Presentation</vt:lpstr>
      <vt:lpstr>Introduction</vt:lpstr>
      <vt:lpstr>   Project Objective </vt:lpstr>
      <vt:lpstr> Methodology  </vt:lpstr>
      <vt:lpstr>PowerPoint Presentation</vt:lpstr>
      <vt:lpstr>PowerPoint Presentation</vt:lpstr>
      <vt:lpstr>    Technologies Used </vt:lpstr>
      <vt:lpstr>   Working of the System </vt:lpstr>
      <vt:lpstr>   Novelty of the Project </vt:lpstr>
      <vt:lpstr>PowerPoint Presentation</vt:lpstr>
      <vt:lpstr>Result Demonstration </vt:lpstr>
      <vt:lpstr>PowerPoint Presentation</vt:lpstr>
      <vt:lpstr>PowerPoint Presentation</vt:lpstr>
      <vt:lpstr>PowerPoint Presentation</vt:lpstr>
      <vt:lpstr>PowerPoint Presentation</vt:lpstr>
      <vt:lpstr>PowerPoint Presentation</vt:lpstr>
      <vt:lpstr>PowerPoint Presentation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Nayan Jha</dc:creator>
  <cp:lastModifiedBy>Nayan Jha</cp:lastModifiedBy>
  <cp:revision>8</cp:revision>
  <dcterms:created xsi:type="dcterms:W3CDTF">2026-04-28T07:35:19Z</dcterms:created>
  <dcterms:modified xsi:type="dcterms:W3CDTF">2026-05-01T05:25:06Z</dcterms:modified>
</cp:coreProperties>
</file>